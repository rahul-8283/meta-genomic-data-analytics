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8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14630400" cy="8229600"/>
  <p:notesSz cx="8229600" cy="146304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Instrument Sans Medium" panose="020B0604020202020204" charset="0"/>
      <p:regular r:id="rId18"/>
    </p:embeddedFont>
    <p:embeddedFont>
      <p:font typeface="Open Sans" panose="020B0606030504020204" pitchFamily="34" charset="0"/>
      <p:regular r:id="rId19"/>
      <p:bold r:id="rId20"/>
    </p:embeddedFont>
    <p:embeddedFont>
      <p:font typeface="Trebuchet MS" panose="020B0603020202020204" pitchFamily="34" charset="0"/>
      <p:regular r:id="rId21"/>
      <p:bold r:id="rId22"/>
      <p:italic r:id="rId23"/>
      <p:boldItalic r:id="rId24"/>
    </p:embeddedFont>
    <p:embeddedFont>
      <p:font typeface="Wingdings 3" panose="05040102010807070707" pitchFamily="18" charset="2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07" autoAdjust="0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7164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0160"/>
            <a:ext cx="14630400" cy="823976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8481" y="2885441"/>
            <a:ext cx="9320323" cy="1975562"/>
          </a:xfrm>
        </p:spPr>
        <p:txBody>
          <a:bodyPr anchor="b">
            <a:noAutofit/>
          </a:bodyPr>
          <a:lstStyle>
            <a:lvl1pPr algn="r">
              <a:defRPr sz="648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8481" y="4861000"/>
            <a:ext cx="9320323" cy="131627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97140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1257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3241041"/>
            <a:ext cx="10316002" cy="2191897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03248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4648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1" y="2592707"/>
            <a:ext cx="5020842" cy="46569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7964" y="2592707"/>
            <a:ext cx="5020841" cy="4656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27053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894" y="2593180"/>
            <a:ext cx="502274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0894" y="3284695"/>
            <a:ext cx="5022748" cy="396494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06059" y="2593180"/>
            <a:ext cx="5022742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06062" y="3284695"/>
            <a:ext cx="5022740" cy="396494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26961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15849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66070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37056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1798325"/>
            <a:ext cx="4625434" cy="1534159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2554" y="617910"/>
            <a:ext cx="5416249" cy="66317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1" y="3332483"/>
            <a:ext cx="4625434" cy="3101339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548476" indent="0">
              <a:buNone/>
              <a:defRPr sz="1680"/>
            </a:lvl2pPr>
            <a:lvl3pPr marL="1096951" indent="0">
              <a:buNone/>
              <a:defRPr sz="1440"/>
            </a:lvl3pPr>
            <a:lvl4pPr marL="1645427" indent="0">
              <a:buNone/>
              <a:defRPr sz="1200"/>
            </a:lvl4pPr>
            <a:lvl5pPr marL="2193901" indent="0">
              <a:buNone/>
              <a:defRPr sz="1200"/>
            </a:lvl5pPr>
            <a:lvl6pPr marL="2742377" indent="0">
              <a:buNone/>
              <a:defRPr sz="1200"/>
            </a:lvl6pPr>
            <a:lvl7pPr marL="3290852" indent="0">
              <a:buNone/>
              <a:defRPr sz="1200"/>
            </a:lvl7pPr>
            <a:lvl8pPr marL="3839328" indent="0">
              <a:buNone/>
              <a:defRPr sz="1200"/>
            </a:lvl8pPr>
            <a:lvl9pPr marL="4387804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66984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5760720"/>
            <a:ext cx="10316000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801" y="731520"/>
            <a:ext cx="10316002" cy="4614862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2" y="6440806"/>
            <a:ext cx="10316000" cy="808829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4691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731520"/>
            <a:ext cx="10316002" cy="40843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364480"/>
            <a:ext cx="10316002" cy="1885154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02868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731520"/>
            <a:ext cx="9712961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39367" y="4358640"/>
            <a:ext cx="8669429" cy="4572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9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364480"/>
            <a:ext cx="10316002" cy="1885154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50244" y="94845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71613" y="34638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216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521190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2318386"/>
            <a:ext cx="10316002" cy="3114552"/>
          </a:xfrm>
        </p:spPr>
        <p:txBody>
          <a:bodyPr anchor="b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04464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731520"/>
            <a:ext cx="9712961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9" y="4815840"/>
            <a:ext cx="10316003" cy="6170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50244" y="94845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71613" y="34638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163152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731520"/>
            <a:ext cx="10305844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9" y="4815840"/>
            <a:ext cx="10316003" cy="6170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17602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69549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61208" y="731520"/>
            <a:ext cx="1565692" cy="630174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2" y="731520"/>
            <a:ext cx="8472180" cy="63017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42979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0000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04884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5806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40849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14442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94393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11512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84977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4312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5952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0160"/>
            <a:ext cx="14630400" cy="823976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1584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1" y="2592707"/>
            <a:ext cx="10316002" cy="4656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46160" y="7249635"/>
            <a:ext cx="109432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2801" y="7249635"/>
            <a:ext cx="755713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08796" y="7249635"/>
            <a:ext cx="82000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accent1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69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  <p:sldLayoutId id="2147483802" r:id="rId13"/>
    <p:sldLayoutId id="2147483803" r:id="rId14"/>
    <p:sldLayoutId id="2147483804" r:id="rId15"/>
    <p:sldLayoutId id="2147483805" r:id="rId16"/>
    <p:sldLayoutId id="2147483806" r:id="rId17"/>
    <p:sldLayoutId id="2147483807" r:id="rId18"/>
    <p:sldLayoutId id="2147483808" r:id="rId19"/>
    <p:sldLayoutId id="2147483809" r:id="rId20"/>
    <p:sldLayoutId id="2147483810" r:id="rId21"/>
    <p:sldLayoutId id="2147483811" r:id="rId22"/>
    <p:sldLayoutId id="2147483812" r:id="rId23"/>
    <p:sldLayoutId id="2147483813" r:id="rId24"/>
    <p:sldLayoutId id="2147483814" r:id="rId25"/>
    <p:sldLayoutId id="2147483815" r:id="rId26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161780" y="612649"/>
            <a:ext cx="9922532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b="1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Protein-Protein Network Analysis</a:t>
            </a:r>
            <a:endParaRPr lang="en-US" sz="4800" b="1" dirty="0"/>
          </a:p>
        </p:txBody>
      </p:sp>
      <p:sp>
        <p:nvSpPr>
          <p:cNvPr id="4" name="Text 1"/>
          <p:cNvSpPr/>
          <p:nvPr/>
        </p:nvSpPr>
        <p:spPr>
          <a:xfrm>
            <a:off x="1942365" y="1696324"/>
            <a:ext cx="10179010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4800" b="1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Mapping Disease Pathways</a:t>
            </a:r>
            <a:endParaRPr lang="en-US" sz="4800" b="1" dirty="0"/>
          </a:p>
        </p:txBody>
      </p:sp>
      <p:sp>
        <p:nvSpPr>
          <p:cNvPr id="5" name="Text 2"/>
          <p:cNvSpPr/>
          <p:nvPr/>
        </p:nvSpPr>
        <p:spPr>
          <a:xfrm>
            <a:off x="3467585" y="293243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Example: Pathway Discovery in Rheumatoid Arthritis (RA)</a:t>
            </a:r>
            <a:endParaRPr lang="en-US" sz="175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38CF5C-4D5B-BF31-D671-B6336214F7DF}"/>
              </a:ext>
            </a:extLst>
          </p:cNvPr>
          <p:cNvSpPr txBox="1"/>
          <p:nvPr/>
        </p:nvSpPr>
        <p:spPr>
          <a:xfrm>
            <a:off x="1161780" y="4736434"/>
            <a:ext cx="732077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Team Members: 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• G Prajwal Priyadarshan (CB.SC.U4AIE24214) 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• Kabilan K (CB.SC.U4AIE24224) 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• Kishore B (CB.SC.U4AIE24227) 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• Rahul L S (CB.SC.U4AIE24248)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DB3EDF-9458-5683-5E36-676F3056196C}"/>
              </a:ext>
            </a:extLst>
          </p:cNvPr>
          <p:cNvSpPr txBox="1"/>
          <p:nvPr/>
        </p:nvSpPr>
        <p:spPr>
          <a:xfrm>
            <a:off x="5344222" y="3793785"/>
            <a:ext cx="73207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Team 7 &amp; AIE-C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762000"/>
            <a:ext cx="2883098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chemeClr val="bg1"/>
                </a:solidFill>
                <a:latin typeface="+mj-lt"/>
                <a:ea typeface="Instrument Sans Medium" pitchFamily="34" charset="-122"/>
                <a:cs typeface="Instrument Sans Medium" pitchFamily="34" charset="-120"/>
              </a:rPr>
              <a:t>Chapter 1: Foundations</a:t>
            </a:r>
            <a:endParaRPr lang="en-US" sz="21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6642" y="1186220"/>
            <a:ext cx="9219605" cy="540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chemeClr val="bg1"/>
                </a:solidFill>
                <a:latin typeface="+mj-lt"/>
                <a:ea typeface="Instrument Sans Medium" pitchFamily="34" charset="-122"/>
                <a:cs typeface="Instrument Sans Medium" pitchFamily="34" charset="-120"/>
              </a:rPr>
              <a:t>What Are Protein-Protein Interactions (PPIs)?</a:t>
            </a:r>
            <a:endParaRPr lang="en-US" sz="3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756642" y="2245519"/>
            <a:ext cx="7659291" cy="691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Protein-Protein Interactions are the physical contacts between two or more proteins that are necessary to carry out a specific biological function.</a:t>
            </a:r>
            <a:endParaRPr lang="en-US" sz="17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56642" y="3180398"/>
            <a:ext cx="7659291" cy="1738789"/>
          </a:xfrm>
          <a:prstGeom prst="roundRect">
            <a:avLst>
              <a:gd name="adj" fmla="val 8414"/>
            </a:avLst>
          </a:prstGeom>
          <a:solidFill>
            <a:srgbClr val="1F1F1F"/>
          </a:solidFill>
          <a:ln w="30480">
            <a:solidFill>
              <a:srgbClr val="5757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162" y="3180398"/>
            <a:ext cx="121920" cy="1738789"/>
          </a:xfrm>
          <a:prstGeom prst="roundRect">
            <a:avLst>
              <a:gd name="adj" fmla="val 26602"/>
            </a:avLst>
          </a:prstGeom>
          <a:solidFill>
            <a:srgbClr val="F5F547"/>
          </a:solidFill>
          <a:ln/>
        </p:spPr>
      </p:sp>
      <p:sp>
        <p:nvSpPr>
          <p:cNvPr id="7" name="Text 5"/>
          <p:cNvSpPr/>
          <p:nvPr/>
        </p:nvSpPr>
        <p:spPr>
          <a:xfrm>
            <a:off x="1094661" y="3426976"/>
            <a:ext cx="2702600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chemeClr val="bg1"/>
                </a:solidFill>
                <a:latin typeface="+mj-lt"/>
                <a:ea typeface="Instrument Sans Medium" pitchFamily="34" charset="-122"/>
                <a:cs typeface="Instrument Sans Medium" pitchFamily="34" charset="-120"/>
              </a:rPr>
              <a:t>Fundamental to Life</a:t>
            </a:r>
            <a:endParaRPr lang="en-US" sz="21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4661" y="3980855"/>
            <a:ext cx="7074694" cy="691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PPIs drive virtually all cellular processes, from DNA replication to signal transduction.</a:t>
            </a:r>
            <a:endParaRPr lang="en-US" sz="17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56642" y="5135285"/>
            <a:ext cx="7659291" cy="1738789"/>
          </a:xfrm>
          <a:prstGeom prst="roundRect">
            <a:avLst>
              <a:gd name="adj" fmla="val 8414"/>
            </a:avLst>
          </a:prstGeom>
          <a:solidFill>
            <a:srgbClr val="1F1F1F"/>
          </a:solidFill>
          <a:ln w="30480">
            <a:solidFill>
              <a:srgbClr val="5757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6162" y="5135285"/>
            <a:ext cx="121920" cy="1738789"/>
          </a:xfrm>
          <a:prstGeom prst="roundRect">
            <a:avLst>
              <a:gd name="adj" fmla="val 26602"/>
            </a:avLst>
          </a:prstGeom>
          <a:solidFill>
            <a:srgbClr val="F5F547"/>
          </a:solidFill>
          <a:ln/>
        </p:spPr>
      </p:sp>
      <p:sp>
        <p:nvSpPr>
          <p:cNvPr id="11" name="Text 9"/>
          <p:cNvSpPr/>
          <p:nvPr/>
        </p:nvSpPr>
        <p:spPr>
          <a:xfrm>
            <a:off x="1094661" y="5381863"/>
            <a:ext cx="2776418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chemeClr val="bg1"/>
                </a:solidFill>
                <a:latin typeface="+mj-lt"/>
                <a:ea typeface="Instrument Sans Medium" pitchFamily="34" charset="-122"/>
                <a:cs typeface="Instrument Sans Medium" pitchFamily="34" charset="-120"/>
              </a:rPr>
              <a:t>Dysfunction = Disease</a:t>
            </a:r>
            <a:endParaRPr lang="en-US" sz="21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94661" y="5935742"/>
            <a:ext cx="7074694" cy="691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When these interactions go awry, they often lead directly to pathological conditions, including cancer and autoimmune diseases.</a:t>
            </a:r>
            <a:endParaRPr lang="en-US" sz="17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026" name="Picture 2" descr="Protein | Definition, Structure ...">
            <a:extLst>
              <a:ext uri="{FF2B5EF4-FFF2-40B4-BE49-F238E27FC236}">
                <a16:creationId xmlns:a16="http://schemas.microsoft.com/office/drawing/2014/main" id="{2782292B-E084-40D7-0A47-223C389F0C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478" y="2791850"/>
            <a:ext cx="5382169" cy="3761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1532"/>
            <a:ext cx="478738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+mj-lt"/>
                <a:ea typeface="Instrument Sans Medium" pitchFamily="34" charset="-122"/>
                <a:cs typeface="Instrument Sans Medium" pitchFamily="34" charset="-120"/>
              </a:rPr>
              <a:t>From PPIs to Networks</a:t>
            </a:r>
            <a:endParaRPr lang="en-US" sz="3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2234442" y="23254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+mj-lt"/>
                <a:ea typeface="Instrument Sans Medium" pitchFamily="34" charset="-122"/>
                <a:cs typeface="Instrument Sans Medium" pitchFamily="34" charset="-120"/>
              </a:rPr>
              <a:t>Proteins (Nodes)</a:t>
            </a:r>
            <a:endParaRPr lang="en-US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1795939" y="2880957"/>
            <a:ext cx="3785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Each individual protein within the cellular system.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Text 3"/>
          <p:cNvSpPr/>
          <p:nvPr/>
        </p:nvSpPr>
        <p:spPr>
          <a:xfrm>
            <a:off x="2444170" y="40256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+mj-lt"/>
                <a:ea typeface="Instrument Sans Medium" pitchFamily="34" charset="-122"/>
                <a:cs typeface="Instrument Sans Medium" pitchFamily="34" charset="-120"/>
              </a:rPr>
              <a:t>Interactions (Edges)</a:t>
            </a:r>
            <a:endParaRPr lang="en-US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 4"/>
          <p:cNvSpPr/>
          <p:nvPr/>
        </p:nvSpPr>
        <p:spPr>
          <a:xfrm>
            <a:off x="2444170" y="4609185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The physical or functional relationships between proteins.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Text 5"/>
          <p:cNvSpPr/>
          <p:nvPr/>
        </p:nvSpPr>
        <p:spPr>
          <a:xfrm>
            <a:off x="7930569" y="39906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+mj-lt"/>
                <a:ea typeface="Instrument Sans Medium" pitchFamily="34" charset="-122"/>
                <a:cs typeface="Instrument Sans Medium" pitchFamily="34" charset="-120"/>
              </a:rPr>
              <a:t>Pathways (Structure)</a:t>
            </a:r>
            <a:endParaRPr lang="en-US" sz="2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Text 6"/>
          <p:cNvSpPr/>
          <p:nvPr/>
        </p:nvSpPr>
        <p:spPr>
          <a:xfrm>
            <a:off x="7988379" y="4524447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The resulting network structure represents entire signaling pathways and processes.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Text 7"/>
          <p:cNvSpPr/>
          <p:nvPr/>
        </p:nvSpPr>
        <p:spPr>
          <a:xfrm>
            <a:off x="793790" y="6672263"/>
            <a:ext cx="933151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A PPI network is essentially a map that helps us visualize and understand the complex cellular machinery, providing a holistic view of function.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0334" y="605790"/>
            <a:ext cx="2945963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Chapter 2: Methodology</a:t>
            </a:r>
            <a:endParaRPr lang="en-US" sz="2050" dirty="0">
              <a:solidFill>
                <a:schemeClr val="bg1"/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770334" y="1015960"/>
            <a:ext cx="7603331" cy="1045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Constructing the Network: Data Generation</a:t>
            </a:r>
            <a:endParaRPr lang="en-US" sz="3250" dirty="0">
              <a:solidFill>
                <a:schemeClr val="bg1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770334" y="2374940"/>
            <a:ext cx="7603331" cy="4478298"/>
          </a:xfrm>
          <a:prstGeom prst="roundRect">
            <a:avLst>
              <a:gd name="adj" fmla="val 700"/>
            </a:avLst>
          </a:prstGeom>
          <a:solidFill>
            <a:srgbClr val="3E3E3E"/>
          </a:solidFill>
          <a:ln/>
        </p:spPr>
      </p:sp>
      <p:sp>
        <p:nvSpPr>
          <p:cNvPr id="6" name="Shape 3"/>
          <p:cNvSpPr/>
          <p:nvPr/>
        </p:nvSpPr>
        <p:spPr>
          <a:xfrm>
            <a:off x="770334" y="2374940"/>
            <a:ext cx="7603331" cy="2071926"/>
          </a:xfrm>
          <a:prstGeom prst="roundRect">
            <a:avLst>
              <a:gd name="adj" fmla="val 1514"/>
            </a:avLst>
          </a:prstGeom>
          <a:solidFill>
            <a:srgbClr val="242424"/>
          </a:solidFill>
          <a:ln/>
        </p:spPr>
      </p:sp>
      <p:sp>
        <p:nvSpPr>
          <p:cNvPr id="7" name="Text 4"/>
          <p:cNvSpPr/>
          <p:nvPr/>
        </p:nvSpPr>
        <p:spPr>
          <a:xfrm>
            <a:off x="979408" y="2584013"/>
            <a:ext cx="2770822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Experimental Methods</a:t>
            </a:r>
            <a:endParaRPr lang="en-US" sz="205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979408" y="3035975"/>
            <a:ext cx="7185184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Direct techniques used in the lab to confirm interactions: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979408" y="3495794"/>
            <a:ext cx="7185184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Yeast Two-Hybrid (Y2H)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979408" y="3903345"/>
            <a:ext cx="7185184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Co-Immunoprecipitation (Co-IP)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770334" y="4446865"/>
            <a:ext cx="7603331" cy="2406372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12" name="Shape 9"/>
          <p:cNvSpPr/>
          <p:nvPr/>
        </p:nvSpPr>
        <p:spPr>
          <a:xfrm>
            <a:off x="770334" y="4446865"/>
            <a:ext cx="7603331" cy="22860"/>
          </a:xfrm>
          <a:prstGeom prst="roundRect">
            <a:avLst>
              <a:gd name="adj" fmla="val 137203"/>
            </a:avLst>
          </a:prstGeom>
          <a:solidFill>
            <a:srgbClr val="3D3D3D"/>
          </a:solidFill>
          <a:ln/>
        </p:spPr>
      </p:sp>
      <p:sp>
        <p:nvSpPr>
          <p:cNvPr id="13" name="Text 10"/>
          <p:cNvSpPr/>
          <p:nvPr/>
        </p:nvSpPr>
        <p:spPr>
          <a:xfrm>
            <a:off x="979408" y="4655939"/>
            <a:ext cx="316622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Computational Databases</a:t>
            </a:r>
            <a:endParaRPr lang="en-US" sz="2050" dirty="0">
              <a:solidFill>
                <a:schemeClr val="bg1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979408" y="5107900"/>
            <a:ext cx="7185184" cy="668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Integrating published literature, high-throughput data, and predicted interactions: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979408" y="5902166"/>
            <a:ext cx="7185184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STRING Database (Used in our RA example)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979408" y="6309717"/>
            <a:ext cx="7185184" cy="334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BioGRID, IntAct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770334" y="7088386"/>
            <a:ext cx="7603331" cy="53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STRING database aggregates known and predicted PPIs, offering a high-confidence network foundation for analysis.</a:t>
            </a:r>
            <a:endParaRPr lang="en-US" sz="1300" dirty="0">
              <a:solidFill>
                <a:schemeClr val="bg1"/>
              </a:solidFill>
            </a:endParaRPr>
          </a:p>
        </p:txBody>
      </p:sp>
      <p:pic>
        <p:nvPicPr>
          <p:cNvPr id="2050" name="Picture 2" descr="wwPDB: Worldwide Protein Data Bank">
            <a:extLst>
              <a:ext uri="{FF2B5EF4-FFF2-40B4-BE49-F238E27FC236}">
                <a16:creationId xmlns:a16="http://schemas.microsoft.com/office/drawing/2014/main" id="{D311B564-1B8A-E33C-BD20-D321926E5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6238" y="1853018"/>
            <a:ext cx="4345902" cy="3589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913" y="826889"/>
            <a:ext cx="1057501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6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Network Topology Basics: The Importance of Hubs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94184"/>
            <a:ext cx="680442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57720" y="31855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Nodes (Proteins)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1757720" y="3675936"/>
            <a:ext cx="319468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individual points in the network. Their identity determines the function.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2994184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9823" y="31855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Edges (Interactions)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6199823" y="3675936"/>
            <a:ext cx="319468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connections between nodes. The 'wiring' of the cellular circuit.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944" y="5215758"/>
            <a:ext cx="680442" cy="680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17110" y="5215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Degree/Centrality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1" name="Text 6"/>
          <p:cNvSpPr/>
          <p:nvPr/>
        </p:nvSpPr>
        <p:spPr>
          <a:xfrm>
            <a:off x="8137386" y="5856342"/>
            <a:ext cx="319468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number of connections a node has. High-degree nodes are called </a:t>
            </a:r>
            <a:r>
              <a:rPr lang="en-US" b="1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Hubs</a:t>
            </a:r>
            <a:r>
              <a:rPr lang="en-US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 7"/>
          <p:cNvSpPr/>
          <p:nvPr/>
        </p:nvSpPr>
        <p:spPr>
          <a:xfrm>
            <a:off x="1134011" y="5130537"/>
            <a:ext cx="51669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Hubs Matter:</a:t>
            </a:r>
            <a:r>
              <a:rPr lang="en-US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High-degree hub proteins are crucial for network stability. Targeting a hub can often disrupt an entire disease pathway.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hape 8"/>
          <p:cNvSpPr/>
          <p:nvPr/>
        </p:nvSpPr>
        <p:spPr>
          <a:xfrm>
            <a:off x="793790" y="5019794"/>
            <a:ext cx="30480" cy="1236107"/>
          </a:xfrm>
          <a:prstGeom prst="rect">
            <a:avLst/>
          </a:prstGeom>
          <a:solidFill>
            <a:srgbClr val="F5F547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F11955-53E4-D80D-07D8-5EC02C7DF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88" y="1548850"/>
            <a:ext cx="11251580" cy="554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77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5925" y="898208"/>
            <a:ext cx="2574012" cy="31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Chapter 3: Case Study</a:t>
            </a:r>
            <a:endParaRPr lang="en-US" sz="195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35925" y="1509832"/>
            <a:ext cx="12598122" cy="8614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50"/>
              </a:lnSpc>
              <a:buNone/>
            </a:pPr>
            <a:r>
              <a:rPr lang="en-US" sz="54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Rheumatoid Arthritis (RA) Pathway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35925" y="2670810"/>
            <a:ext cx="13158549" cy="319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constructed a network using six key proteins associated with RA pathogenesis, as visualized by the </a:t>
            </a:r>
            <a:r>
              <a:rPr lang="en-US" sz="1550" dirty="0">
                <a:solidFill>
                  <a:schemeClr val="bg1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Q2.py</a:t>
            </a:r>
            <a:r>
              <a:rPr lang="en-US" sz="155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script.</a:t>
            </a:r>
            <a:endParaRPr lang="en-US" sz="1550" dirty="0">
              <a:solidFill>
                <a:schemeClr val="bg1"/>
              </a:solidFill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925" y="3215045"/>
            <a:ext cx="1296710" cy="12967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2969" y="4761428"/>
            <a:ext cx="2496979" cy="31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50"/>
              </a:lnSpc>
            </a:pPr>
            <a:r>
              <a:rPr lang="en-US" sz="19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TNF - </a:t>
            </a:r>
            <a:r>
              <a:rPr lang="en-IN" sz="2000" b="1" dirty="0" err="1">
                <a:solidFill>
                  <a:schemeClr val="bg1"/>
                </a:solidFill>
              </a:rPr>
              <a:t>Tumor</a:t>
            </a:r>
            <a:r>
              <a:rPr lang="en-IN" sz="2000" b="1" dirty="0">
                <a:solidFill>
                  <a:schemeClr val="bg1"/>
                </a:solidFill>
              </a:rPr>
              <a:t> Necrosis Factor</a:t>
            </a:r>
            <a:r>
              <a:rPr lang="en-IN" sz="2000" dirty="0">
                <a:solidFill>
                  <a:schemeClr val="bg1"/>
                </a:solidFill>
              </a:rPr>
              <a:t> </a:t>
            </a:r>
            <a:endParaRPr lang="en-US" sz="1950" dirty="0">
              <a:solidFill>
                <a:schemeClr val="bg1"/>
              </a:solidFill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892" y="3215045"/>
            <a:ext cx="1296710" cy="12967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87892" y="4761428"/>
            <a:ext cx="2496979" cy="31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50"/>
              </a:lnSpc>
            </a:pPr>
            <a:r>
              <a:rPr lang="en-US" sz="19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IL6 - </a:t>
            </a:r>
            <a:r>
              <a:rPr lang="en-IN" sz="2000" b="1" dirty="0">
                <a:solidFill>
                  <a:schemeClr val="bg1"/>
                </a:solidFill>
              </a:rPr>
              <a:t>Interleukin 6</a:t>
            </a:r>
            <a:r>
              <a:rPr lang="en-IN" sz="2000" dirty="0">
                <a:solidFill>
                  <a:schemeClr val="bg1"/>
                </a:solidFill>
              </a:rPr>
              <a:t> </a:t>
            </a:r>
            <a:endParaRPr lang="en-US" sz="1950" dirty="0">
              <a:solidFill>
                <a:schemeClr val="bg1"/>
              </a:solidFill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9978" y="3215045"/>
            <a:ext cx="1296710" cy="12967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39978" y="4761428"/>
            <a:ext cx="2496979" cy="31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STAT3-</a:t>
            </a:r>
          </a:p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</a:p>
          <a:p>
            <a:pPr marL="0" indent="0" algn="l">
              <a:lnSpc>
                <a:spcPts val="2450"/>
              </a:lnSpc>
              <a:buNone/>
            </a:pPr>
            <a:endParaRPr lang="en-US" sz="1950" dirty="0">
              <a:solidFill>
                <a:schemeClr val="bg1"/>
              </a:solidFill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2063" y="3215045"/>
            <a:ext cx="1296710" cy="129671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792063" y="4761428"/>
            <a:ext cx="2496979" cy="31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JAK2 - </a:t>
            </a:r>
            <a:endParaRPr lang="en-US" sz="1950" dirty="0">
              <a:solidFill>
                <a:schemeClr val="bg1"/>
              </a:solidFill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925" y="5472946"/>
            <a:ext cx="1296710" cy="129671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35925" y="7019330"/>
            <a:ext cx="2496979" cy="31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PTPN22</a:t>
            </a:r>
            <a:br>
              <a:rPr lang="en-US" sz="19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</a:br>
            <a:endParaRPr lang="en-US" sz="1950" dirty="0">
              <a:solidFill>
                <a:schemeClr val="bg1"/>
              </a:solidFill>
            </a:endParaRPr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87892" y="5472946"/>
            <a:ext cx="1296710" cy="129671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087892" y="7019330"/>
            <a:ext cx="2496979" cy="31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CTLA4</a:t>
            </a:r>
            <a:endParaRPr lang="en-US" sz="1950" dirty="0">
              <a:solidFill>
                <a:schemeClr val="bg1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074DE1F-265E-DD1B-C2A7-CF4D3A3DB0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098809"/>
              </p:ext>
            </p:extLst>
          </p:nvPr>
        </p:nvGraphicFramePr>
        <p:xfrm>
          <a:off x="6367346" y="5133593"/>
          <a:ext cx="4761029" cy="1170432"/>
        </p:xfrm>
        <a:graphic>
          <a:graphicData uri="http://schemas.openxmlformats.org/drawingml/2006/table">
            <a:tbl>
              <a:tblPr/>
              <a:tblGrid>
                <a:gridCol w="4761029">
                  <a:extLst>
                    <a:ext uri="{9D8B030D-6E8A-4147-A177-3AD203B41FA5}">
                      <a16:colId xmlns:a16="http://schemas.microsoft.com/office/drawing/2014/main" val="4778276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Cytotoxic T-Lymphocyte-Associated protein 4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359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446787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E46D75A-D5AD-D1C3-8FC5-F636A1A2D62B}"/>
              </a:ext>
            </a:extLst>
          </p:cNvPr>
          <p:cNvGraphicFramePr>
            <a:graphicFrameLocks noGrp="1"/>
          </p:cNvGraphicFramePr>
          <p:nvPr/>
        </p:nvGraphicFramePr>
        <p:xfrm>
          <a:off x="812800" y="4500626"/>
          <a:ext cx="10315575" cy="841248"/>
        </p:xfrm>
        <a:graphic>
          <a:graphicData uri="http://schemas.openxmlformats.org/drawingml/2006/table">
            <a:tbl>
              <a:tblPr/>
              <a:tblGrid>
                <a:gridCol w="10315575">
                  <a:extLst>
                    <a:ext uri="{9D8B030D-6E8A-4147-A177-3AD203B41FA5}">
                      <a16:colId xmlns:a16="http://schemas.microsoft.com/office/drawing/2014/main" val="1406762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Janus Kinase 2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737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435826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BA24F520-223C-61CB-E86A-26EF6DCEDA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91788"/>
              </p:ext>
            </p:extLst>
          </p:nvPr>
        </p:nvGraphicFramePr>
        <p:xfrm>
          <a:off x="812800" y="4500626"/>
          <a:ext cx="10315575" cy="841248"/>
        </p:xfrm>
        <a:graphic>
          <a:graphicData uri="http://schemas.openxmlformats.org/drawingml/2006/table">
            <a:tbl>
              <a:tblPr/>
              <a:tblGrid>
                <a:gridCol w="10315575">
                  <a:extLst>
                    <a:ext uri="{9D8B030D-6E8A-4147-A177-3AD203B41FA5}">
                      <a16:colId xmlns:a16="http://schemas.microsoft.com/office/drawing/2014/main" val="448494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Janus Kinase 2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0699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5697226"/>
                  </a:ext>
                </a:extLst>
              </a:tr>
            </a:tbl>
          </a:graphicData>
        </a:graphic>
      </p:graphicFrame>
      <p:pic>
        <p:nvPicPr>
          <p:cNvPr id="26" name="Picture 25">
            <a:extLst>
              <a:ext uri="{FF2B5EF4-FFF2-40B4-BE49-F238E27FC236}">
                <a16:creationId xmlns:a16="http://schemas.microsoft.com/office/drawing/2014/main" id="{FF0572D4-22AD-40DA-C5E1-49AC017BD8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83829" y="4917459"/>
            <a:ext cx="1705213" cy="50489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E9EDA47-DE5B-101B-1D9D-852F4097EC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4540" y="7463670"/>
            <a:ext cx="5125165" cy="49536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403400D-78BA-D9AD-9371-ED37A35FECD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39277" y="6594255"/>
            <a:ext cx="4401164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625" y="488394"/>
            <a:ext cx="5563672" cy="444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2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Analysis: Identifying the Top Hubs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21625" y="1287661"/>
            <a:ext cx="13387149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By calculating the Degree Centrality for each node, we quantitatively rank the influence of each protein in the RA network.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21625" y="1931432"/>
            <a:ext cx="7167801" cy="568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centrality output from the analysis reveals that two key inflammatory cytokines stand out: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81" y="2671763"/>
            <a:ext cx="266343" cy="3330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98721" y="2699623"/>
            <a:ext cx="2971681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TNF (Tumor Necrosis Factor)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1198722" y="3154680"/>
            <a:ext cx="5101718" cy="568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master regulator of inflammation; a highly connected node, driving many downstream effects.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81" y="4050387"/>
            <a:ext cx="266343" cy="3330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98721" y="4078248"/>
            <a:ext cx="2220397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IL6 (Interleukin 6)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0" name="Text 6"/>
          <p:cNvSpPr/>
          <p:nvPr/>
        </p:nvSpPr>
        <p:spPr>
          <a:xfrm>
            <a:off x="1198722" y="4533305"/>
            <a:ext cx="4499552" cy="568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Another major pro-inflammatory cytokine with high connectivity, essential for immune response regulation.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Text 7"/>
          <p:cNvSpPr/>
          <p:nvPr/>
        </p:nvSpPr>
        <p:spPr>
          <a:xfrm>
            <a:off x="6893094" y="6787318"/>
            <a:ext cx="5785842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degree centrality indicates significant influence within the disease pathway.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CB1757A-3CF1-2642-B7E6-DD3691522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440" y="2599614"/>
            <a:ext cx="8112052" cy="39877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8653" y="552688"/>
            <a:ext cx="2360295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Chapter 4: Integration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8653" y="916305"/>
            <a:ext cx="7291507" cy="463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Linking Networks to Gene Expression Data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9711" y="1657707"/>
            <a:ext cx="7830860" cy="464760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4021" y="2793659"/>
            <a:ext cx="666629" cy="6666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850095" y="5039784"/>
            <a:ext cx="1946558" cy="749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Central Hub ID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3531" y="2794909"/>
            <a:ext cx="666630" cy="66663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96898" y="5227273"/>
            <a:ext cx="1946559" cy="374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PPI Network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Text 4"/>
          <p:cNvSpPr/>
          <p:nvPr/>
        </p:nvSpPr>
        <p:spPr>
          <a:xfrm>
            <a:off x="3903704" y="5039784"/>
            <a:ext cx="1946558" cy="749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Diff. Gene Expression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Text 5"/>
          <p:cNvSpPr/>
          <p:nvPr/>
        </p:nvSpPr>
        <p:spPr>
          <a:xfrm>
            <a:off x="648593" y="6008727"/>
            <a:ext cx="13333095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Network analysis complements Differential Expression Analysis (</a:t>
            </a:r>
            <a:r>
              <a:rPr lang="en-US" sz="1400" dirty="0">
                <a:solidFill>
                  <a:schemeClr val="bg1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Q1.py</a:t>
            </a:r>
            <a:r>
              <a:rPr lang="en-US" sz="140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 by providing crucial context: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" name="Text 6"/>
          <p:cNvSpPr/>
          <p:nvPr/>
        </p:nvSpPr>
        <p:spPr>
          <a:xfrm>
            <a:off x="336984" y="6376004"/>
            <a:ext cx="9107038" cy="653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gene may be highly </a:t>
            </a:r>
            <a:r>
              <a:rPr lang="en-US" sz="1400" b="1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upregulated</a:t>
            </a:r>
            <a:r>
              <a:rPr lang="en-US" sz="140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but only network analysis can confirm if that gene is a central player (a hub) or merely a peripheral component.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Text 7"/>
          <p:cNvSpPr/>
          <p:nvPr/>
        </p:nvSpPr>
        <p:spPr>
          <a:xfrm>
            <a:off x="336984" y="6733270"/>
            <a:ext cx="13333095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can prioritize therapeutic targets by selecting highly connected genes that also show significant changes in expression during the disease state.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623768"/>
            <a:ext cx="6385322" cy="538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chemeClr val="bg1"/>
                </a:solidFill>
                <a:latin typeface="+mj-lt"/>
                <a:ea typeface="Instrument Sans Medium" pitchFamily="34" charset="-122"/>
                <a:cs typeface="Instrument Sans Medium" pitchFamily="34" charset="-120"/>
              </a:rPr>
              <a:t>Key Applications in Biomedicine</a:t>
            </a:r>
            <a:endParaRPr lang="en-US" sz="335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1485662"/>
            <a:ext cx="755642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PPI network analysis is a cornerstone of modern systems biology, offering deep insights into disease architecture.</a:t>
            </a:r>
            <a:endParaRPr lang="en-US" sz="165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93790" y="2417683"/>
            <a:ext cx="861893" cy="1586151"/>
          </a:xfrm>
          <a:prstGeom prst="roundRect">
            <a:avLst>
              <a:gd name="adj" fmla="val 360022"/>
            </a:avLst>
          </a:prstGeom>
          <a:solidFill>
            <a:srgbClr val="3E3E3E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109" y="3008709"/>
            <a:ext cx="323136" cy="40397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71067" y="2633067"/>
            <a:ext cx="3027759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chemeClr val="bg1"/>
                </a:solidFill>
                <a:latin typeface="+mj-lt"/>
                <a:ea typeface="Instrument Sans Medium" pitchFamily="34" charset="-122"/>
                <a:cs typeface="Instrument Sans Medium" pitchFamily="34" charset="-120"/>
              </a:rPr>
              <a:t>Identifying Drug Targets</a:t>
            </a:r>
            <a:endParaRPr lang="en-US" sz="21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 4"/>
          <p:cNvSpPr/>
          <p:nvPr/>
        </p:nvSpPr>
        <p:spPr>
          <a:xfrm>
            <a:off x="1871067" y="3098840"/>
            <a:ext cx="6479143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Hubs like TNF and IL6 are often excellent drug targets because their inhibition disrupts the entire pathological process.</a:t>
            </a:r>
            <a:endParaRPr lang="en-US" sz="165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Shape 5"/>
          <p:cNvSpPr/>
          <p:nvPr/>
        </p:nvSpPr>
        <p:spPr>
          <a:xfrm>
            <a:off x="793790" y="4219218"/>
            <a:ext cx="861893" cy="1586151"/>
          </a:xfrm>
          <a:prstGeom prst="roundRect">
            <a:avLst>
              <a:gd name="adj" fmla="val 360022"/>
            </a:avLst>
          </a:prstGeom>
          <a:solidFill>
            <a:srgbClr val="3E3E3E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109" y="4810244"/>
            <a:ext cx="323136" cy="40397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71067" y="4434602"/>
            <a:ext cx="3519845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chemeClr val="bg1"/>
                </a:solidFill>
                <a:latin typeface="+mj-lt"/>
                <a:ea typeface="Instrument Sans Medium" pitchFamily="34" charset="-122"/>
                <a:cs typeface="Instrument Sans Medium" pitchFamily="34" charset="-120"/>
              </a:rPr>
              <a:t>Understanding Mechanisms</a:t>
            </a:r>
            <a:endParaRPr lang="en-US" sz="21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871067" y="4900374"/>
            <a:ext cx="6479143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It reveals novel relationships and pathways, helping researchers move beyond single-gene studies to holistic understanding.</a:t>
            </a:r>
            <a:endParaRPr lang="en-US" sz="165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793790" y="6020753"/>
            <a:ext cx="861893" cy="1586151"/>
          </a:xfrm>
          <a:prstGeom prst="roundRect">
            <a:avLst>
              <a:gd name="adj" fmla="val 360022"/>
            </a:avLst>
          </a:prstGeom>
          <a:solidFill>
            <a:srgbClr val="3E3E3E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109" y="6611779"/>
            <a:ext cx="323136" cy="40397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871067" y="6236137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chemeClr val="bg1"/>
                </a:solidFill>
                <a:latin typeface="+mj-lt"/>
                <a:ea typeface="Instrument Sans Medium" pitchFamily="34" charset="-122"/>
                <a:cs typeface="Instrument Sans Medium" pitchFamily="34" charset="-120"/>
              </a:rPr>
              <a:t>Biomarker Discovery</a:t>
            </a:r>
            <a:endParaRPr lang="en-US" sz="21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1871067" y="6701909"/>
            <a:ext cx="6479143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Connected clusters of proteins can serve as panels for early disease detection and prognosis monitoring.</a:t>
            </a:r>
            <a:endParaRPr lang="en-US" sz="165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25191" y="617458"/>
            <a:ext cx="13019398" cy="1839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200"/>
              </a:lnSpc>
              <a:buNone/>
            </a:pPr>
            <a:r>
              <a:rPr lang="en-US" sz="5750" dirty="0">
                <a:solidFill>
                  <a:schemeClr val="bg1"/>
                </a:solidFill>
                <a:latin typeface="+mj-lt"/>
                <a:ea typeface="Instrument Sans Medium" pitchFamily="34" charset="-122"/>
                <a:cs typeface="Instrument Sans Medium" pitchFamily="34" charset="-120"/>
              </a:rPr>
              <a:t>The Power of Connection</a:t>
            </a:r>
            <a:endParaRPr lang="en-US" sz="575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Text 1"/>
          <p:cNvSpPr/>
          <p:nvPr/>
        </p:nvSpPr>
        <p:spPr>
          <a:xfrm>
            <a:off x="914401" y="2209324"/>
            <a:ext cx="13443144" cy="1066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50" dirty="0">
                <a:solidFill>
                  <a:schemeClr val="bg1"/>
                </a:solidFill>
                <a:latin typeface="+mj-lt"/>
                <a:ea typeface="Instrument Sans Medium" pitchFamily="34" charset="-122"/>
                <a:cs typeface="Instrument Sans Medium" pitchFamily="34" charset="-120"/>
              </a:rPr>
              <a:t>Summary: Why Network Analysis is Essential</a:t>
            </a:r>
            <a:endParaRPr lang="en-US" sz="335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254165" y="3250406"/>
            <a:ext cx="479941" cy="479941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6" name="Text 3"/>
          <p:cNvSpPr/>
          <p:nvPr/>
        </p:nvSpPr>
        <p:spPr>
          <a:xfrm>
            <a:off x="1980799" y="3182244"/>
            <a:ext cx="6879193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PPI Networks move us from looking at individual components to seeing the entire system.</a:t>
            </a:r>
            <a:endParaRPr lang="en-US" sz="165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254164" y="4283570"/>
            <a:ext cx="479941" cy="479941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8" name="Text 5"/>
          <p:cNvSpPr/>
          <p:nvPr/>
        </p:nvSpPr>
        <p:spPr>
          <a:xfrm>
            <a:off x="1980799" y="4203353"/>
            <a:ext cx="6879193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Topology metrics like </a:t>
            </a:r>
            <a:r>
              <a:rPr lang="en-US" sz="1650" b="1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Degree Centrality</a:t>
            </a:r>
            <a:r>
              <a:rPr lang="en-US" sz="165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 quantitatively rank the most influential proteins (Hubs) in a disease pathway.</a:t>
            </a:r>
            <a:endParaRPr lang="en-US" sz="165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254165" y="5405455"/>
            <a:ext cx="479941" cy="479941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7"/>
          <p:cNvSpPr/>
          <p:nvPr/>
        </p:nvSpPr>
        <p:spPr>
          <a:xfrm>
            <a:off x="1980799" y="5373367"/>
            <a:ext cx="6879193" cy="1024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chemeClr val="bg1"/>
                </a:solidFill>
                <a:latin typeface="+mj-lt"/>
                <a:ea typeface="Open Sans" pitchFamily="34" charset="-122"/>
                <a:cs typeface="Open Sans" pitchFamily="34" charset="-120"/>
              </a:rPr>
              <a:t>Integrating networks with gene expression data allows for the prioritization of biologically and strategically relevant therapeutic targets, such as TNF and IL6 in Rheumatoid Arthritis.</a:t>
            </a:r>
            <a:endParaRPr lang="en-US" sz="165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84</TotalTime>
  <Words>768</Words>
  <Application>Microsoft Office PowerPoint</Application>
  <PresentationFormat>Custom</PresentationFormat>
  <Paragraphs>95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Instrument Sans Medium</vt:lpstr>
      <vt:lpstr>Wingdings 3</vt:lpstr>
      <vt:lpstr>Open Sans</vt:lpstr>
      <vt:lpstr>Consolas</vt:lpstr>
      <vt:lpstr>Trebuchet MS</vt:lpstr>
      <vt:lpstr>Arial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Prajwal Priyadarshan gopinath</dc:creator>
  <cp:lastModifiedBy>Prajwal Priyadarshan gopinath</cp:lastModifiedBy>
  <cp:revision>3</cp:revision>
  <cp:lastPrinted>2025-10-13T01:43:33Z</cp:lastPrinted>
  <dcterms:created xsi:type="dcterms:W3CDTF">2025-10-13T01:09:41Z</dcterms:created>
  <dcterms:modified xsi:type="dcterms:W3CDTF">2025-10-13T08:43:55Z</dcterms:modified>
</cp:coreProperties>
</file>